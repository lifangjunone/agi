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0c558c63b4cf1" /><Relationship Type="http://schemas.openxmlformats.org/officeDocument/2006/relationships/extended-properties" Target="/docProps/app.xml" Id="Rac8e1db19db145fd" /><Relationship Type="http://schemas.openxmlformats.org/officeDocument/2006/relationships/officeDocument" Target="/ppt/presentation.xml" Id="R4adfc4ba6b064b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24dd2968342de"/>
  </p:sldMasterIdLst>
  <p:notesMasterIdLst>
    <p:notesMasterId xmlns:r="http://schemas.openxmlformats.org/officeDocument/2006/relationships" r:id="R371bf30bb2984dbf"/>
  </p:notesMasterIdLst>
  <p:sldIdLst>
    <p:sldId xmlns:r="http://schemas.openxmlformats.org/officeDocument/2006/relationships" id="256" r:id="Ra765048bbbdb4cc0"/>
    <p:sldId xmlns:r="http://schemas.openxmlformats.org/officeDocument/2006/relationships" id="257" r:id="Ra6bef039d21a4ad0"/>
    <p:sldId xmlns:r="http://schemas.openxmlformats.org/officeDocument/2006/relationships" id="258" r:id="R1ae0cabaa3a047da"/>
    <p:sldId xmlns:r="http://schemas.openxmlformats.org/officeDocument/2006/relationships" id="259" r:id="R9c23bf0d16d5478c"/>
    <p:sldId xmlns:r="http://schemas.openxmlformats.org/officeDocument/2006/relationships" id="260" r:id="R0ea4f6f5bcd948ac"/>
    <p:sldId xmlns:r="http://schemas.openxmlformats.org/officeDocument/2006/relationships" id="261" r:id="R80fde65741f74fdf"/>
    <p:sldId xmlns:r="http://schemas.openxmlformats.org/officeDocument/2006/relationships" id="262" r:id="Re4eb896490824180"/>
    <p:sldId xmlns:r="http://schemas.openxmlformats.org/officeDocument/2006/relationships" id="263" r:id="Ra3921e6735d34f36"/>
    <p:sldId xmlns:r="http://schemas.openxmlformats.org/officeDocument/2006/relationships" id="264" r:id="Rfb39ae1e3ae84869"/>
    <p:sldId xmlns:r="http://schemas.openxmlformats.org/officeDocument/2006/relationships" id="265" r:id="R2a5ba59f2b4149aa"/>
    <p:sldId xmlns:r="http://schemas.openxmlformats.org/officeDocument/2006/relationships" id="266" r:id="R19b8927e449f44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e327b64f974093" /><Relationship Type="http://schemas.openxmlformats.org/officeDocument/2006/relationships/slideMaster" Target="/ppt/slideMasters/slideMaster1.xml" Id="Rac824dd2968342de" /><Relationship Type="http://schemas.openxmlformats.org/officeDocument/2006/relationships/notesMaster" Target="/ppt/notesMasters/notesMaster1.xml" Id="R371bf30bb2984dbf" /><Relationship Type="http://schemas.openxmlformats.org/officeDocument/2006/relationships/presProps" Target="/ppt/presProps.xml" Id="R066f4d9588a249d5" /><Relationship Type="http://schemas.openxmlformats.org/officeDocument/2006/relationships/tableStyles" Target="/ppt/tableStyles.xml" Id="R823f263074694ec4" /><Relationship Type="http://schemas.openxmlformats.org/officeDocument/2006/relationships/slide" Target="/ppt/slides/slide1.xml" Id="Ra765048bbbdb4cc0" /><Relationship Type="http://schemas.openxmlformats.org/officeDocument/2006/relationships/slide" Target="/ppt/slides/slide2.xml" Id="Ra6bef039d21a4ad0" /><Relationship Type="http://schemas.openxmlformats.org/officeDocument/2006/relationships/slide" Target="/ppt/slides/slide3.xml" Id="R1ae0cabaa3a047da" /><Relationship Type="http://schemas.openxmlformats.org/officeDocument/2006/relationships/slide" Target="/ppt/slides/slide4.xml" Id="R9c23bf0d16d5478c" /><Relationship Type="http://schemas.openxmlformats.org/officeDocument/2006/relationships/slide" Target="/ppt/slides/slide5.xml" Id="R0ea4f6f5bcd948ac" /><Relationship Type="http://schemas.openxmlformats.org/officeDocument/2006/relationships/slide" Target="/ppt/slides/slide6.xml" Id="R80fde65741f74fdf" /><Relationship Type="http://schemas.openxmlformats.org/officeDocument/2006/relationships/slide" Target="/ppt/slides/slide7.xml" Id="Re4eb896490824180" /><Relationship Type="http://schemas.openxmlformats.org/officeDocument/2006/relationships/slide" Target="/ppt/slides/slide8.xml" Id="Ra3921e6735d34f36" /><Relationship Type="http://schemas.openxmlformats.org/officeDocument/2006/relationships/slide" Target="/ppt/slides/slide9.xml" Id="Rfb39ae1e3ae84869" /><Relationship Type="http://schemas.openxmlformats.org/officeDocument/2006/relationships/slide" Target="/ppt/slides/slide10.xml" Id="R2a5ba59f2b4149aa" /><Relationship Type="http://schemas.openxmlformats.org/officeDocument/2006/relationships/slide" Target="/ppt/slides/slide11.xml" Id="R19b8927e449f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04af3acbb942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7d48798dd34350" /><Relationship Type="http://schemas.openxmlformats.org/officeDocument/2006/relationships/notesMaster" Target="/ppt/notesMasters/notesMaster1.xml" Id="R7188bef030c34a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d210be2ff49e4" /><Relationship Type="http://schemas.openxmlformats.org/officeDocument/2006/relationships/notesMaster" Target="/ppt/notesMasters/notesMaster1.xml" Id="R85c0c741206c41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58ca2adb241e3" /><Relationship Type="http://schemas.openxmlformats.org/officeDocument/2006/relationships/notesMaster" Target="/ppt/notesMasters/notesMaster1.xml" Id="R48c9596ad77949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af30605d04ea9" /><Relationship Type="http://schemas.openxmlformats.org/officeDocument/2006/relationships/notesMaster" Target="/ppt/notesMasters/notesMaster1.xml" Id="R26a6ba89389b42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86132127164616" /><Relationship Type="http://schemas.openxmlformats.org/officeDocument/2006/relationships/notesMaster" Target="/ppt/notesMasters/notesMaster1.xml" Id="Re784579d898b4e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960184c434f54" /><Relationship Type="http://schemas.openxmlformats.org/officeDocument/2006/relationships/notesMaster" Target="/ppt/notesMasters/notesMaster1.xml" Id="R65c835f0fdfa4a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1d9c3f0d174142" /><Relationship Type="http://schemas.openxmlformats.org/officeDocument/2006/relationships/notesMaster" Target="/ppt/notesMasters/notesMaster1.xml" Id="R17402a8c13fb49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fe4c90ed374b40" /><Relationship Type="http://schemas.openxmlformats.org/officeDocument/2006/relationships/notesMaster" Target="/ppt/notesMasters/notesMaster1.xml" Id="Ra9f9b5c8e0114a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4aaad50e8646e9" /><Relationship Type="http://schemas.openxmlformats.org/officeDocument/2006/relationships/notesMaster" Target="/ppt/notesMasters/notesMaster1.xml" Id="Re36ca41c3d4a4d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423666d6d445b5" /><Relationship Type="http://schemas.openxmlformats.org/officeDocument/2006/relationships/notesMaster" Target="/ppt/notesMasters/notesMaster1.xml" Id="Rdb6e77e1b1844d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e4c294b82c4058" /><Relationship Type="http://schemas.openxmlformats.org/officeDocument/2006/relationships/notesMaster" Target="/ppt/notesMasters/notesMaster1.xml" Id="Rd0b2141b835a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 页；OneOPC/docs/02-end-to-end-workflow.md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 页；OneOPC/README.md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1、6 页；OneOPC/README.md；delivery-pilot/README.md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1-3 页；截图：OneOPC/docs/screenshots/tech-intelligence-phase-a.png；OneOPC/docs/08-dual-channel-codegraph-integration.md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1、6 页；截图：OneOPC/docs/screenshots/full-flow-completed.png；OneOPC/README.md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2、5 页；截图：OneOPC/docs/screenshots/executive-digital-employees-animated-1080.png；OneOPC/docs/13-digital-workforce.md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4 页；截图：OneOPC/docs/screenshots/task-supervisor-center.png；OneOPC/docs/10-task-supervision-and-recovery.md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1、7 页；截图：OneOPC/docs/screenshots/version-history.png；OneOPC/README.md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2、5 页；截图：OneOPC/docs/screenshots/toolchain-execution-fabric.png；OneOPC/docs/08-dual-channel-codegraph-integration.md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1、4 页；OneOPC/docs/03-reference-architecture.md；delivery-pilot/docs/architecture/03-tauri-contract.md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/Users/bytedance/Downloads/DeliveryPilot产品介绍.pdf，第 1、6 页；基于工作区 OneOPC、DeliveryPilot、Technology Exploration 文档综合整理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c4c63601149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ca7bf765f402e" /><Relationship Type="http://schemas.openxmlformats.org/officeDocument/2006/relationships/slideLayout" Target="/ppt/slideLayouts/slideLayout1.xml" Id="R42e70f926b55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e70f926b55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7c1d25f32409d" /><Relationship Type="http://schemas.openxmlformats.org/officeDocument/2006/relationships/notesSlide" Target="/ppt/notesSlides/notesSlide1.xml" Id="R686dc3b090f448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fc13104db4aa7" /><Relationship Type="http://schemas.openxmlformats.org/officeDocument/2006/relationships/notesSlide" Target="/ppt/notesSlides/notesSlide2.xml" Id="Rd5d43bc28c81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0ab6a0ed84ecd" /><Relationship Type="http://schemas.openxmlformats.org/officeDocument/2006/relationships/notesSlide" Target="/ppt/notesSlides/notesSlide3.xml" Id="R7982d10025ff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319dfdc33404a" /><Relationship Type="http://schemas.openxmlformats.org/officeDocument/2006/relationships/image" Target="/ppt/media/image.png" Id="R31ae7813f6714938" /><Relationship Type="http://schemas.openxmlformats.org/officeDocument/2006/relationships/notesSlide" Target="/ppt/notesSlides/notesSlide4.xml" Id="Re5ddcc08a41b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17be633634214" /><Relationship Type="http://schemas.openxmlformats.org/officeDocument/2006/relationships/image" Target="/ppt/media/image2.png" Id="Rcc9eaa79b60d4db0" /><Relationship Type="http://schemas.openxmlformats.org/officeDocument/2006/relationships/notesSlide" Target="/ppt/notesSlides/notesSlide5.xml" Id="Rb0f031ecf47942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18404d2bf4d7a" /><Relationship Type="http://schemas.openxmlformats.org/officeDocument/2006/relationships/image" Target="/ppt/media/image3.png" Id="R3e300b50bf8b4fd2" /><Relationship Type="http://schemas.openxmlformats.org/officeDocument/2006/relationships/notesSlide" Target="/ppt/notesSlides/notesSlide6.xml" Id="R035d67a3717944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ba167a4204b87" /><Relationship Type="http://schemas.openxmlformats.org/officeDocument/2006/relationships/image" Target="/ppt/media/image4.png" Id="Re688e35ac6764781" /><Relationship Type="http://schemas.openxmlformats.org/officeDocument/2006/relationships/notesSlide" Target="/ppt/notesSlides/notesSlide7.xml" Id="R15faac22517c45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6e50dbdd94829" /><Relationship Type="http://schemas.openxmlformats.org/officeDocument/2006/relationships/image" Target="/ppt/media/image5.png" Id="Rb7a6d48e2fb04736" /><Relationship Type="http://schemas.openxmlformats.org/officeDocument/2006/relationships/notesSlide" Target="/ppt/notesSlides/notesSlide8.xml" Id="R9c151f97069c46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d910fc16a4a97" /><Relationship Type="http://schemas.openxmlformats.org/officeDocument/2006/relationships/image" Target="/ppt/media/image6.png" Id="R60a56693006649a1" /><Relationship Type="http://schemas.openxmlformats.org/officeDocument/2006/relationships/notesSlide" Target="/ppt/notesSlides/notesSlide9.xml" Id="R8331d9b714f042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46a5918704ac5" /><Relationship Type="http://schemas.openxmlformats.org/officeDocument/2006/relationships/notesSlide" Target="/ppt/notesSlides/notesSlide10.xml" Id="R3af5518d21fc4c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f72cf8ec741dc" /><Relationship Type="http://schemas.openxmlformats.org/officeDocument/2006/relationships/notesSlide" Target="/ppt/notesSlides/notesSlide11.xml" Id="R362ad61515f147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A94DF-0D4E-493C-B0C1-01EA599F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8FF"/>
                </a:solidFill>
              </a:defRPr>
            </a:pPr>
            <a:r>
              <a:rPr sz="1125" b="1">
                <a:solidFill>
                  <a:srgbClr val="48D8FF"/>
                </a:solidFill>
              </a:rPr>
              <a:t>DELIVERYPILOT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0EC31-CB29-498A-9350-9C761A8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6FAFF"/>
                </a:solidFill>
              </a:defRPr>
            </a:pPr>
            <a:r>
              <a:rPr sz="4800" b="1">
                <a:solidFill>
                  <a:srgbClr val="F6FAFF"/>
                </a:solidFill>
              </a:rPr>
              <a:t>一句话需求，</a:t>
            </a:r>
          </a:p>
          <a:p xmlns:a="http://schemas.openxmlformats.org/drawingml/2006/main">
            <a:pPr algn="l">
              <a:defRPr sz="4800" b="1">
                <a:solidFill>
                  <a:srgbClr val="F6FAFF"/>
                </a:solidFill>
              </a:defRPr>
            </a:pPr>
            <a:r>
              <a:rPr sz="4800" b="1">
                <a:solidFill>
                  <a:srgbClr val="F6FAFF"/>
                </a:solidFill>
              </a:rPr>
              <a:t>72 小时自治交付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02972-C6A6-4197-B712-904A822A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8D8FF"/>
                </a:solidFill>
              </a:defRPr>
            </a:pPr>
            <a:r>
              <a:rPr sz="1875" b="1">
                <a:solidFill>
                  <a:srgbClr val="48D8FF"/>
                </a:solidFill>
              </a:rPr>
              <a:t>从技术情报到可运行产品的 AI 研发交付系统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84AE7-2009-482B-8F8F-6AF1BE5E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7C9"/>
                </a:solidFill>
              </a:defRPr>
            </a:pPr>
            <a:r>
              <a:rPr sz="1575" b="0">
                <a:solidFill>
                  <a:srgbClr val="A8B7C9"/>
                </a:solidFill>
              </a:rPr>
              <a:t>用户只输入目标，系统负责把目标推进到结果。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AFF3F-ED2E-4BEA-A313-6A8C141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38200"/>
            <a:ext cx="2381250" cy="47625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665A4-9186-4CE3-90D5-F0A38014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8FF"/>
                </a:solidFill>
              </a:defRPr>
            </a:pPr>
            <a:r>
              <a:rPr sz="1200" b="1">
                <a:solidFill>
                  <a:srgbClr val="48D8FF"/>
                </a:solidFill>
              </a:rPr>
              <a:t>AUTONOMOUS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1B8D3-5C0C-4350-BEFA-A04943BB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52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6FAFF"/>
                </a:solidFill>
              </a:defRPr>
            </a:pPr>
            <a:r>
              <a:rPr sz="5700" b="1">
                <a:solidFill>
                  <a:srgbClr val="F6FAFF"/>
                </a:solidFill>
              </a:rPr>
              <a:t>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6C6CC-5BE1-4149-B8AC-99AFAF8D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D8FF"/>
                </a:solidFill>
              </a:defRPr>
            </a:pPr>
            <a:r>
              <a:rPr sz="1800" b="1">
                <a:solidFill>
                  <a:srgbClr val="48D8FF"/>
                </a:solidFill>
              </a:rPr>
              <a:t>小时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541B5-8DBB-4C91-BD81-0C41B48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</a:defRPr>
            </a:pPr>
            <a:r>
              <a:rPr sz="1800" b="1">
                <a:solidFill>
                  <a:srgbClr val="F6FAFF"/>
                </a:solidFill>
              </a:rPr>
              <a:t>持续自治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BB0DD-8544-4230-AB18-A78F1363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28B80-0E25-4A08-A2FE-7378976A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91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7C9"/>
                </a:solidFill>
              </a:defRPr>
            </a:pPr>
            <a:r>
              <a:rPr sz="1500" b="0">
                <a:solidFill>
                  <a:srgbClr val="A8B7C9"/>
                </a:solidFill>
              </a:rPr>
              <a:t>分析 · 研发</a:t>
            </a:r>
          </a:p>
          <a:p xmlns:a="http://schemas.openxmlformats.org/drawingml/2006/main">
            <a:pPr algn="l">
              <a:defRPr sz="1500" b="0">
                <a:solidFill>
                  <a:srgbClr val="A8B7C9"/>
                </a:solidFill>
              </a:defRPr>
            </a:pPr>
            <a:r>
              <a:rPr sz="1500" b="0">
                <a:solidFill>
                  <a:srgbClr val="A8B7C9"/>
                </a:solidFill>
              </a:rPr>
              <a:t>测试 · 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6782E-0131-42D4-A661-EA401FFB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19DC7-DEFA-4DE1-A8C9-A6269F1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077A3-A397-4861-94F3-C6FAB874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OPENING / 产品定位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A4D17-95AC-41AA-8C55-99E7B797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1614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90200-8EA4-4946-BAFA-04FCE1D1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125A5-0100-4AD5-9150-63767F0F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1FB86-8A7C-495F-8FBD-43800D91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THE PROBLEM / 研发交付的断点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4A897-C00E-42F2-A7B1-9C33C6D1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74CB6-9EFB-4D9B-9D8D-F55F2242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研发交付真正的瓶颈，不是写代码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A0A85-2CB2-4321-B086-F82C981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9"/>
                </a:solidFill>
              </a:defRPr>
            </a:pPr>
            <a:r>
              <a:rPr sz="1425" b="0">
                <a:solidFill>
                  <a:srgbClr val="A8B7C9"/>
                </a:solidFill>
              </a:rPr>
              <a:t>而是等待、切换、失联与不确定性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8B29A-07A0-4B2E-8FA5-2D6D5DFC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204CF-74A7-491B-A46A-1E0F4CDC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37B02-2BBB-4E9E-B791-7C067C9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81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</a:defRPr>
            </a:pPr>
            <a:r>
              <a:rPr sz="1800" b="1">
                <a:solidFill>
                  <a:srgbClr val="F6FAFF"/>
                </a:solidFill>
              </a:rPr>
              <a:t>需求断在文档里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3A109-6A63-41CC-84A4-B6F67E80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从目标到规格，靠人反复翻译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585FD-145E-49FC-8E9C-4863AEA7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953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8BA6F-722C-4BC3-9950-61AD52F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9E8AF-98D3-4D27-AB1E-FD5E9724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</a:defRPr>
            </a:pPr>
            <a:r>
              <a:rPr sz="1800" b="1">
                <a:solidFill>
                  <a:srgbClr val="F6FAFF"/>
                </a:solidFill>
              </a:rPr>
              <a:t>技术情报断在搜索里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DA48B-2F0A-4E72-A1FD-8F9756A1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信息很多，但没有形成判断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1A6C8-1EB9-4C47-81CD-51CE69E4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403C0-244B-4669-B89F-A3BEA2CE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6FFF1-F667-4306-A793-D8BB018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</a:defRPr>
            </a:pPr>
            <a:r>
              <a:rPr sz="1800" b="1">
                <a:solidFill>
                  <a:srgbClr val="F6FAFF"/>
                </a:solidFill>
              </a:rPr>
              <a:t>执行断在工具之间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838E1-7D5E-4ECC-8B48-739B5889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窗口、代理、任务状态彼此割裂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11B62-4D2D-4E89-9780-65190287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953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D7CD6-F902-49FC-A909-86FD797B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ADF07-E7EF-4018-9059-8170E5E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</a:defRPr>
            </a:pPr>
            <a:r>
              <a:rPr sz="1800" b="1">
                <a:solidFill>
                  <a:srgbClr val="F6FAFF"/>
                </a:solidFill>
              </a:rPr>
              <a:t>结果断在验收之前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0ECA1-166D-4E1F-897C-5DEC522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完成不等于可运行，更不等于可交付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61525-7CEA-4F1D-BDF9-F664CCF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D8FF"/>
                </a:solidFill>
              </a:defRPr>
            </a:pPr>
            <a:r>
              <a:rPr sz="1800" b="1">
                <a:solidFill>
                  <a:srgbClr val="48D8FF"/>
                </a:solidFill>
              </a:rPr>
              <a:t>DeliveryPilot 的答案：把这些断点收敛到同一个可监督、可恢复的交付任务里。</a:t>
            </a:r>
          </a:p>
        </p:txBody>
      </p:sp>
    </p:spTree>
    <p:extLst>
      <p:ext uri="{BB962C8B-B14F-4D97-AF65-F5344CB8AC3E}">
        <p14:creationId xmlns:p14="http://schemas.microsoft.com/office/powerpoint/2010/main" val="1497863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BEA8A-D9E7-4764-B53E-7245D00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3F4D4-45E3-47A1-B2F2-81315761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8C504-162B-448A-9707-6585E86A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THE VALUE / 核心价值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CD059-17A4-4B00-8401-5E0C7B18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DC603-1858-4A97-8C80-C464DAF0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用户只需要输入需求，后续全自动完成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BA6BB-FBEF-4FF9-9A95-3B13D3EB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9"/>
                </a:solidFill>
              </a:defRPr>
            </a:pPr>
            <a:r>
              <a:rPr sz="1425" b="0">
                <a:solidFill>
                  <a:srgbClr val="A8B7C9"/>
                </a:solidFill>
              </a:rPr>
              <a:t>一句话需求 → 技术判断 → 自动研发 → 可运行产品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77325-7B15-4431-AAB6-71ABFC61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D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25829-4CD0-4484-9D5C-7E923002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669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48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07E22-C005-452C-AD16-520D171C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30483-5238-46B1-B31D-77ED9EE4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文字或需求文档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02D96-C3E8-425E-ABB3-767493B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48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D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C0F0A-9EA4-4C90-8FFC-BE2EEE2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18669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47DF4-A6A4-471E-971C-E84A5EA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D8FF"/>
                </a:solidFill>
              </a:defRPr>
            </a:pPr>
            <a:r>
              <a:rPr sz="1650" b="1">
                <a:solidFill>
                  <a:srgbClr val="48D8FF"/>
                </a:solidFill>
              </a:rPr>
              <a:t>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3A33E-4215-4EC9-9C36-02FA25B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</a:defRPr>
            </a:pPr>
            <a:r>
              <a:rPr sz="1350" b="1">
                <a:solidFill>
                  <a:srgbClr val="F6FAFF"/>
                </a:solidFill>
              </a:rPr>
              <a:t>需求分析与技术匹配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CE2A2-4790-47A2-9A4E-5E62994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8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9713F-27D8-42F3-A12D-9D8D918B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28875"/>
            <a:ext cx="18669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28A93-2266-439B-8F93-F44287EE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D8FF"/>
                </a:solidFill>
              </a:defRPr>
            </a:pPr>
            <a:r>
              <a:rPr sz="1650" b="1">
                <a:solidFill>
                  <a:srgbClr val="48D8FF"/>
                </a:solidFill>
              </a:rPr>
              <a:t>构建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86FFC-2EED-4068-895C-E33825AD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956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</a:defRPr>
            </a:pPr>
            <a:r>
              <a:rPr sz="1350" b="1">
                <a:solidFill>
                  <a:srgbClr val="F6FAFF"/>
                </a:solidFill>
              </a:rPr>
              <a:t>任务拆解与代码开发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A08E7-0917-4707-9C60-1E9E4157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28875"/>
            <a:ext cx="18669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C1E85-4D39-416A-9B3B-2A9C4634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D8FF"/>
                </a:solidFill>
              </a:defRPr>
            </a:pPr>
            <a:r>
              <a:rPr sz="1650" b="1">
                <a:solidFill>
                  <a:srgbClr val="48D8FF"/>
                </a:solidFill>
              </a:rPr>
              <a:t>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A4E60-6F8E-4E07-AF92-5AE27EFF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956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</a:defRPr>
            </a:pPr>
            <a:r>
              <a:rPr sz="1350" b="1">
                <a:solidFill>
                  <a:srgbClr val="F6FAFF"/>
                </a:solidFill>
              </a:rPr>
              <a:t>测试、部署与结果验证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B9827-9B35-4BD8-841B-AD94BA0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AFF"/>
                </a:solidFill>
              </a:defRPr>
            </a:pPr>
            <a:r>
              <a:rPr sz="2400" b="1">
                <a:solidFill>
                  <a:srgbClr val="F6FAFF"/>
                </a:solidFill>
              </a:rPr>
              <a:t>用户不需要理解复杂的研发过程，只需要确认目标与关键决策。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F8D6C-7185-4AE5-8D55-97968D1F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7C9"/>
                </a:solidFill>
              </a:defRPr>
            </a:pPr>
            <a:r>
              <a:rPr sz="1575" b="0">
                <a:solidFill>
                  <a:srgbClr val="A8B7C9"/>
                </a:solidFill>
              </a:rPr>
              <a:t>系统负责把目标持续推进到可运行、可验证、可交付的结果。</a:t>
            </a:r>
          </a:p>
        </p:txBody>
      </p:sp>
    </p:spTree>
    <p:extLst>
      <p:ext uri="{BB962C8B-B14F-4D97-AF65-F5344CB8AC3E}">
        <p14:creationId xmlns:p14="http://schemas.microsoft.com/office/powerpoint/2010/main" val="531084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FD3BC-353C-45B6-A4D3-930101FF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35169-4688-45B6-8A9F-E05F5701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6C1D0-CD04-4752-A98D-ABDBB3B9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TECH RADAR / 持续自治调研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9DC43-C59D-4D8F-8C5F-4E98CAB0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17F53-97D1-4ED6-8674-A31D5D65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72 小时持续自治调研，把信息变成技术判断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5CD98-A411-4F3A-B03B-2D20BD71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9"/>
                </a:solidFill>
              </a:defRPr>
            </a:pPr>
            <a:r>
              <a:rPr sz="1425" b="0">
                <a:solidFill>
                  <a:srgbClr val="A8B7C9"/>
                </a:solidFill>
              </a:rPr>
              <a:t>不是搜一次，而是持续追踪、关联、评估与更新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E7706-BB7A-4E5F-8EF0-0527C9C5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8D8FF"/>
                </a:solidFill>
              </a:defRPr>
            </a:pPr>
            <a:r>
              <a:rPr sz="3300" b="1">
                <a:solidFill>
                  <a:srgbClr val="48D8FF"/>
                </a:solidFill>
              </a:rPr>
              <a:t>72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C5CC7-9490-4E3B-9BC2-08854BB0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持续自治调研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7C6F3-F2E3-40F5-ADA1-7C264CD1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3E0A3"/>
                </a:solidFill>
              </a:defRPr>
            </a:pPr>
            <a:r>
              <a:rPr sz="3300" b="1">
                <a:solidFill>
                  <a:srgbClr val="33E0A3"/>
                </a:solidFill>
              </a:rPr>
              <a:t>16+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6272B-A018-4AF0-A2EF-0BE6CBF9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已接入数据源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F4CB6-C491-4DA4-AC9E-8F7B21E3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C857"/>
                </a:solidFill>
              </a:defRPr>
            </a:pPr>
            <a:r>
              <a:rPr sz="3300" b="1">
                <a:solidFill>
                  <a:srgbClr val="FFC857"/>
                </a:solidFill>
              </a:rPr>
              <a:t>1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79EC5-085C-4B2C-B407-C3281998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33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需求匹配刷新周期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9F302-637D-458E-A3CA-CF8912C2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953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8FD6E-B0EA-47F6-A763-537EBF5B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D8FF"/>
                </a:solidFill>
              </a:defRPr>
            </a:pPr>
            <a:r>
              <a:rPr sz="1650" b="1">
                <a:solidFill>
                  <a:srgbClr val="48D8FF"/>
                </a:solidFill>
              </a:rPr>
              <a:t>持续做四件事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B87A1-B25C-44C0-8810-6352579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· 采集技术社区、开源平台与论文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A7ADB-EA03-4891-A1D1-02AF63DA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· 识别技术、项目、实现与趋势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857FA-41FC-449C-B94D-15DF6B0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· 构建关联关系与知识图谱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AB3BF-A0CD-4C9D-B64F-F03ADB47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· 评估适配性、成本与潜在风险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e7813f6714938"/>
          <a:srcRect xmlns:a="http://schemas.openxmlformats.org/drawingml/2006/main" l="0" t="365" r="0" b="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952625"/>
            <a:ext cx="521970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</p:spTree>
    <p:extLst>
      <p:ext uri="{BB962C8B-B14F-4D97-AF65-F5344CB8AC3E}">
        <p14:creationId xmlns:p14="http://schemas.microsoft.com/office/powerpoint/2010/main" val="588864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D38D1-BB96-465A-9301-745CE99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0D61C-A470-4E4F-818E-4D412E60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6D999-4BA8-4EAD-AFFC-7A94F200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DELIVERY FLOW / 端到端自动化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A110D-FF63-4817-97D5-177C2A49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C970D-C3BA-4F88-A71F-42EAC7A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从需求到上线，整个交付链路由系统接管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eaa79b60d4db0"/>
          <a:srcRect xmlns:a="http://schemas.openxmlformats.org/drawingml/2006/main" l="0" t="426" r="0" b="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952625"/>
            <a:ext cx="502920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490B8-9B75-42B9-96A8-52221C79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ECDCE-4EDB-4B96-9905-838807FE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归档需求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16942-21AB-4A81-B665-B920C0D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原件、指纹、Run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F4032-EDFE-4AC5-A0BA-E9236F7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431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299DF-6AB2-4072-A29D-D1D8828D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6CBED-7066-4800-994D-FBCDF1A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拆解任务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220D4-E20B-49CD-BB95-3FA2C4D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规格、计划、检查点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C89D9-1C5F-4E83-B791-184C854A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385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75DE4-19E4-4B1F-B127-2F8FA87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A7C14-4B25-465B-BE52-F18D9534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执行研发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B6FF2-8993-4869-8247-4B496B50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工具、代码、测试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EF846-B00D-448F-BE37-9FBE479E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4CE2E-5212-4210-87CD-AEB0AA53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D8FF"/>
                </a:solidFill>
              </a:defRPr>
            </a:pPr>
            <a:r>
              <a:rPr sz="1350" b="1">
                <a:solidFill>
                  <a:srgbClr val="48D8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A8004-A9FD-497C-9E0F-F1342032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输出结果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1C0E8-CCC7-4B1A-9E73-E4056B88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部署、验收、演示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25497-3B2A-4B0A-A788-A87FACE4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292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188CB-BD99-4989-9C20-4E517DCD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8D8FF"/>
                </a:solidFill>
              </a:defRPr>
            </a:pPr>
            <a:r>
              <a:rPr sz="1725" b="1">
                <a:solidFill>
                  <a:srgbClr val="48D8FF"/>
                </a:solidFill>
              </a:rPr>
              <a:t>每一步都有产物，每个产物都能追溯。</a:t>
            </a:r>
          </a:p>
        </p:txBody>
      </p:sp>
    </p:spTree>
    <p:extLst>
      <p:ext uri="{BB962C8B-B14F-4D97-AF65-F5344CB8AC3E}">
        <p14:creationId xmlns:p14="http://schemas.microsoft.com/office/powerpoint/2010/main" val="2035502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23923-3AD6-4828-B930-750D7D40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07F8D-60A7-442E-95F9-4DEDC6E4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E4146-91E4-486D-9DA0-6D9D02CB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DIGITAL WORKFORCE / 数字员工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D106A-59D2-4192-B802-331A1C5A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EEBEF-247A-402B-BE02-88BFDA19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不是一个 Agent，而是一支会协作的交付小队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40890-4B3C-420B-9B1F-628E5BA4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9"/>
                </a:solidFill>
              </a:defRPr>
            </a:pPr>
            <a:r>
              <a:rPr sz="1425" b="0">
                <a:solidFill>
                  <a:srgbClr val="A8B7C9"/>
                </a:solidFill>
              </a:rPr>
              <a:t>每个角色负责一段确定的交付责任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00b50bf8b4fd2"/>
          <a:srcRect xmlns:a="http://schemas.openxmlformats.org/drawingml/2006/main" l="626" t="0" r="6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952625"/>
            <a:ext cx="493395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7E682-10B6-409C-A207-A83CE48D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8FF"/>
                </a:solidFill>
              </a:defRPr>
            </a:pPr>
            <a:r>
              <a:rPr sz="1125" b="1">
                <a:solidFill>
                  <a:srgbClr val="48D8FF"/>
                </a:solidFill>
              </a:rPr>
              <a:t>COMMANDER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1CFA5-C043-4BD7-90DB-3DE2FA59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1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交付指挥官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20B46-139F-48F2-BF0A-6C9FAAE6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统筹目标、阶段与风险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CE3AD-40ED-4D95-897A-3C7467DB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0A0E9-6BBF-46FC-8B9E-4B94CF3F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8FF"/>
                </a:solidFill>
              </a:defRPr>
            </a:pPr>
            <a:r>
              <a:rPr sz="1125" b="1">
                <a:solidFill>
                  <a:srgbClr val="48D8FF"/>
                </a:solidFill>
              </a:rPr>
              <a:t>RESEARCHER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204DB-3677-4312-8B8C-707E91A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技术调研员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DF2E4-C110-477D-B748-8EC183EC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持续发现与验证技术路径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F7459-2997-4354-9AB3-35C8BCEE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030CF-F7C3-48B1-9ECB-D78185B0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8FF"/>
                </a:solidFill>
              </a:defRPr>
            </a:pPr>
            <a:r>
              <a:rPr sz="1125" b="1">
                <a:solidFill>
                  <a:srgbClr val="48D8FF"/>
                </a:solidFill>
              </a:rPr>
              <a:t>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6F3B0-FDD4-4812-B856-B3D73DD3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系统开发员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FD955-1B34-447C-B54E-26D02C02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把规格转成代码与系统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7A1AB-ED09-4089-9C8B-C3ABFC18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0E322-CB45-42C5-AD30-FD372FC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D8FF"/>
                </a:solidFill>
              </a:defRPr>
            </a:pPr>
            <a:r>
              <a:rPr sz="1125" b="1">
                <a:solidFill>
                  <a:srgbClr val="48D8FF"/>
                </a:solidFill>
              </a:rPr>
              <a:t>VALIDATOR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1CDE2-B299-410F-9471-0876AF1C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00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AFF"/>
                </a:solidFill>
              </a:defRPr>
            </a:pPr>
            <a:r>
              <a:rPr sz="1575" b="1">
                <a:solidFill>
                  <a:srgbClr val="F6FAFF"/>
                </a:solidFill>
              </a:rPr>
              <a:t>质量验证员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6EDE9-3CEC-49F9-8B8C-33D9FA0F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测试、验收与交付证据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D2306-73C5-4048-B966-A2CB5561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4205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813C4-6B87-453E-BC2B-258EF8C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FDD65-1104-4F7F-867B-E1C0D35D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46D56-2676-4890-9ECF-3BEA760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SUPERVISION / 任务监控与恢复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91E39-39FC-4904-AA70-C513CFEE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36983-2F7A-4A02-A90A-D9D69B5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10 秒监控一次，任务断了也不会从头开始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A52A5-8B51-4A5C-8C0A-5AB5B527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9"/>
                </a:solidFill>
              </a:defRPr>
            </a:pPr>
            <a:r>
              <a:rPr sz="1425" b="0">
                <a:solidFill>
                  <a:srgbClr val="A8B7C9"/>
                </a:solidFill>
              </a:rPr>
              <a:t>系统监督的是“这一次任务”，不是某个窗口是否还开着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8e35ac6764781"/>
          <a:srcRect xmlns:a="http://schemas.openxmlformats.org/drawingml/2006/main" l="1481" t="0" r="14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952625"/>
            <a:ext cx="483870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59FB7-D1A1-42C2-B08C-7AC523D0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8D8FF"/>
                </a:solidFill>
              </a:defRPr>
            </a:pPr>
            <a:r>
              <a:rPr sz="3300" b="1">
                <a:solidFill>
                  <a:srgbClr val="48D8FF"/>
                </a:solidFill>
              </a:rPr>
              <a:t>10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6443B-8047-44D5-862A-EC81CAD2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健康扫描周期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477C6-19D2-45F2-AB98-DA35868D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C857"/>
                </a:solidFill>
              </a:defRPr>
            </a:pPr>
            <a:r>
              <a:rPr sz="3300" b="1">
                <a:solidFill>
                  <a:srgbClr val="FFC857"/>
                </a:solidFill>
              </a:rPr>
              <a:t>45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4EFD4-7692-4FD3-8526-87E00517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无心跳判定卡住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8E050-5AFB-4F5F-B207-35A73339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3E0A3"/>
                </a:solidFill>
              </a:defRPr>
            </a:pPr>
            <a:r>
              <a:rPr sz="3300" b="1">
                <a:solidFill>
                  <a:srgbClr val="33E0A3"/>
                </a:solidFill>
              </a:rPr>
              <a:t>≤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5C523-7E8D-4704-B1AE-FD9FC284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9"/>
                </a:solidFill>
              </a:defRPr>
            </a:pPr>
            <a:r>
              <a:rPr sz="1200" b="0">
                <a:solidFill>
                  <a:srgbClr val="A8B7C9"/>
                </a:solidFill>
              </a:rPr>
              <a:t>自动重启上限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05611-A91C-4B41-915B-095DF6C6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</a:defRPr>
            </a:pPr>
            <a:r>
              <a:rPr sz="1800" b="1">
                <a:solidFill>
                  <a:srgbClr val="F6FAFF"/>
                </a:solidFill>
              </a:rPr>
              <a:t>失联 → 判定 → 重启 → 从检查点继续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16ACD-001B-45D4-B180-95296CF7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7C9"/>
                </a:solidFill>
              </a:defRPr>
            </a:pPr>
            <a:r>
              <a:rPr sz="1500" b="0">
                <a:solidFill>
                  <a:srgbClr val="A8B7C9"/>
                </a:solidFill>
              </a:rPr>
              <a:t>保留工作区、事件和当前阶段，不把失败变成返工。</a:t>
            </a:r>
          </a:p>
        </p:txBody>
      </p:sp>
    </p:spTree>
    <p:extLst>
      <p:ext uri="{BB962C8B-B14F-4D97-AF65-F5344CB8AC3E}">
        <p14:creationId xmlns:p14="http://schemas.microsoft.com/office/powerpoint/2010/main" val="244444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0D49A-F6AB-483E-8AC5-6F7EB56F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026F3-6D5C-48A3-ACEC-6C3E87B4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02DD1-1449-494F-911D-FA4E4AB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EVIDENCE / 过程可见与结果可信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9E90E-58F5-4B97-9398-0558B9B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228BB-569B-406F-90BE-E4802CEC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每一个“完成”，都必须有证据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AF7FE-7DCA-436B-BEC2-F79169D8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BC6B8-44EC-4A29-BB21-F0E8BFFE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8D8FF"/>
                </a:solidFill>
              </a:defRPr>
            </a:pPr>
            <a:r>
              <a:rPr sz="1725" b="1">
                <a:solidFill>
                  <a:srgbClr val="48D8FF"/>
                </a:solidFill>
              </a:rPr>
              <a:t>一个 Delivery Run 包含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F4452-C248-4A4B-8660-7ACAB54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</a:defRPr>
            </a:pPr>
            <a:r>
              <a:rPr sz="1425" b="1">
                <a:solidFill>
                  <a:srgbClr val="F6FAFF"/>
                </a:solidFill>
              </a:rPr>
              <a:t>01  需求原件与 SHA-256 指纹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13337-70D1-44D5-B18D-0022D852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</a:defRPr>
            </a:pPr>
            <a:r>
              <a:rPr sz="1425" b="1">
                <a:solidFill>
                  <a:srgbClr val="F6FAFF"/>
                </a:solidFill>
              </a:rPr>
              <a:t>02  阶段状态与真实事件流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518F9-FFC7-477E-8BDC-7DC2145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</a:defRPr>
            </a:pPr>
            <a:r>
              <a:rPr sz="1425" b="1">
                <a:solidFill>
                  <a:srgbClr val="F6FAFF"/>
                </a:solidFill>
              </a:rPr>
              <a:t>03  工具执行与恢复记录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2FE34-5E40-4C53-A582-9E82FB08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</a:defRPr>
            </a:pPr>
            <a:r>
              <a:rPr sz="1425" b="1">
                <a:solidFill>
                  <a:srgbClr val="F6FAFF"/>
                </a:solidFill>
              </a:rPr>
              <a:t>04  代码、测试、部署与验收产物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6d48e2fb04736"/>
          <a:srcRect xmlns:a="http://schemas.openxmlformats.org/drawingml/2006/main" l="0" t="4328" r="0" b="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2095500"/>
            <a:ext cx="5172075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FE33B-DEEA-4FE6-A43B-9ED1B8DC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D8FF"/>
                </a:solidFill>
              </a:defRPr>
            </a:pPr>
            <a:r>
              <a:rPr sz="1800" b="1">
                <a:solidFill>
                  <a:srgbClr val="48D8FF"/>
                </a:solidFill>
              </a:rPr>
              <a:t>从“系统说完成了”升级为“我能看到它为什么完成”。</a:t>
            </a:r>
          </a:p>
        </p:txBody>
      </p:sp>
    </p:spTree>
    <p:extLst>
      <p:ext uri="{BB962C8B-B14F-4D97-AF65-F5344CB8AC3E}">
        <p14:creationId xmlns:p14="http://schemas.microsoft.com/office/powerpoint/2010/main" val="1328719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D8111-92AF-4EBB-A522-C5D9393A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630EF-8BC8-4979-ADFA-926734E7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D32C4-663D-4032-87F0-65D7F479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EXECUTION FABRIC / 执行器与扩展性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28284-A8CE-4124-97DE-7B8BDE0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D9416-D89B-4246-873B-E2A49B3F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前台可见、后台稳定，执行方式可以替换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56693006649a1"/>
          <a:srcRect xmlns:a="http://schemas.openxmlformats.org/drawingml/2006/main" l="328" t="0" r="3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952625"/>
            <a:ext cx="493395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05827-E2C3-4704-BA15-57FE443E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47B24-1F31-48D0-BC49-F26E0CF2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D8FF"/>
                </a:solidFill>
              </a:defRPr>
            </a:pPr>
            <a:r>
              <a:rPr sz="1800" b="1">
                <a:solidFill>
                  <a:srgbClr val="48D8FF"/>
                </a:solidFill>
              </a:rPr>
              <a:t>Computer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272F7-94E8-49BE-8162-304599C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AFF"/>
                </a:solidFill>
              </a:defRPr>
            </a:pPr>
            <a:r>
              <a:rPr sz="1500" b="0">
                <a:solidFill>
                  <a:srgbClr val="F6FAFF"/>
                </a:solidFill>
              </a:rPr>
              <a:t>真实打开工具、展示过程，适合领导演示与可见交付。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FE9B0-98BC-4B3E-81B4-17B41A4E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9644C-EBC2-4D64-A157-98CF2658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Trae Work  ·  Trae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C1036-A09E-4FCD-B5AE-2391539C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D8FF"/>
                </a:solidFill>
              </a:defRPr>
            </a:pPr>
            <a:r>
              <a:rPr sz="1650" b="1">
                <a:solidFill>
                  <a:srgbClr val="48D8FF"/>
                </a:solidFill>
              </a:rPr>
              <a:t>同一份需求、同一套状态、同一份结果协议。</a:t>
            </a:r>
          </a:p>
        </p:txBody>
      </p:sp>
    </p:spTree>
    <p:extLst>
      <p:ext uri="{BB962C8B-B14F-4D97-AF65-F5344CB8AC3E}">
        <p14:creationId xmlns:p14="http://schemas.microsoft.com/office/powerpoint/2010/main" val="1794540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07458-8C7F-4662-9808-116D8CC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013BE-457B-4748-B011-475237A4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D3409-FD9E-4C31-8E1A-52AF6CA2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ARCHITECTURE / 技术底座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165DE-20A7-4E28-912F-AB959C9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A622F-444B-43EE-8E99-1521D207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</a:defRPr>
            </a:pPr>
            <a:r>
              <a:rPr sz="2925" b="1">
                <a:solidFill>
                  <a:srgbClr val="F6FAFF"/>
                </a:solidFill>
              </a:rPr>
              <a:t>把自动化做成工程系统，而不是一次性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8BC2D-1E43-46DE-913C-802AB6E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204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B9D10-280F-4368-9DB1-F1F57D70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D8FF"/>
                </a:solidFill>
              </a:defRPr>
            </a:pPr>
            <a:r>
              <a:rPr sz="1425" b="1">
                <a:solidFill>
                  <a:srgbClr val="48D8FF"/>
                </a:solidFill>
              </a:rPr>
              <a:t>需求层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DFA23-E944-4681-85D2-8D6DFA13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F"/>
                </a:solidFill>
              </a:defRPr>
            </a:pPr>
            <a:r>
              <a:rPr sz="1500" b="1">
                <a:solidFill>
                  <a:srgbClr val="F6FAFF"/>
                </a:solidFill>
              </a:rPr>
              <a:t>Requirement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8D605-91FB-4994-80FD-DB700C3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33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把自然语言变成可执行契约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65B5C-1818-42DA-BAB8-D3531698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204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8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C7176-04E5-4B7E-A111-C6D52CC8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控制层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86972-1F69-4DB6-90FE-378AC580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Delivery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4413D-1FCB-4A99-96CC-6AE21BC4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9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1F"/>
                </a:solidFill>
              </a:defRPr>
            </a:pPr>
            <a:r>
              <a:rPr sz="1275" b="0">
                <a:solidFill>
                  <a:srgbClr val="07111F"/>
                </a:solidFill>
              </a:rPr>
              <a:t>阶段、状态、检查点、策略门禁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2A6EE-5E21-45EB-BE69-F939FFDB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204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93162-8B30-436D-BE8E-8E7D30C0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D8FF"/>
                </a:solidFill>
              </a:defRPr>
            </a:pPr>
            <a:r>
              <a:rPr sz="1425" b="1">
                <a:solidFill>
                  <a:srgbClr val="48D8FF"/>
                </a:solidFill>
              </a:rPr>
              <a:t>执行层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A733D-EC5C-4E62-A509-607157FE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F"/>
                </a:solidFill>
              </a:defRPr>
            </a:pPr>
            <a:r>
              <a:rPr sz="1500" b="1">
                <a:solidFill>
                  <a:srgbClr val="F6FAFF"/>
                </a:solidFill>
              </a:rPr>
              <a:t>Adapters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73EA2-5B12-46C9-A659-FF0C44C3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Work / Code / Computer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43D12-FE0A-4F02-B667-5EA17D1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8204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3D4D0-09D6-4BD3-A7B3-1BD8ABDF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8D8FF"/>
                </a:solidFill>
              </a:defRPr>
            </a:pPr>
            <a:r>
              <a:rPr sz="1425" b="1">
                <a:solidFill>
                  <a:srgbClr val="48D8FF"/>
                </a:solidFill>
              </a:rPr>
              <a:t>证据层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DCF11-7B07-4EDF-BC44-BC6AE195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F"/>
                </a:solidFill>
              </a:defRPr>
            </a:pPr>
            <a:r>
              <a:rPr sz="1500" b="1">
                <a:solidFill>
                  <a:srgbClr val="F6FAFF"/>
                </a:solidFill>
              </a:rPr>
              <a:t>Event + Artifact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2CECD-134A-4037-80F4-8D259325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7C9"/>
                </a:solidFill>
              </a:defRPr>
            </a:pPr>
            <a:r>
              <a:rPr sz="1275" b="0">
                <a:solidFill>
                  <a:srgbClr val="A8B7C9"/>
                </a:solidFill>
              </a:rPr>
              <a:t>事件、产物、验收与恢复证据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989D8-2710-4718-9CA9-252851F9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D8FF"/>
                </a:solidFill>
              </a:defRPr>
            </a:pPr>
            <a:r>
              <a:rPr sz="1800" b="1">
                <a:solidFill>
                  <a:srgbClr val="48D8FF"/>
                </a:solidFill>
              </a:rPr>
              <a:t>复杂度被系统吸收，用户体验只剩一个入口：提交需求。</a:t>
            </a:r>
          </a:p>
        </p:txBody>
      </p:sp>
    </p:spTree>
    <p:extLst>
      <p:ext uri="{BB962C8B-B14F-4D97-AF65-F5344CB8AC3E}">
        <p14:creationId xmlns:p14="http://schemas.microsoft.com/office/powerpoint/2010/main" val="1786113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F252F-415E-4C6D-B9B3-1267270A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9"/>
                </a:solidFill>
              </a:defRPr>
            </a:pPr>
            <a:r>
              <a:rPr sz="975" b="1">
                <a:solidFill>
                  <a:srgbClr val="A8B7C9"/>
                </a:solidFill>
              </a:rPr>
              <a:t>DELIVERYPILOT  /  AUTONOMOUS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201A2-FB5E-41C8-8FCF-FE71F6F5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7C9"/>
                </a:solidFill>
              </a:defRPr>
            </a:pPr>
            <a:r>
              <a:rPr sz="975" b="0">
                <a:solidFill>
                  <a:srgbClr val="A8B7C9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A34EF-4544-4332-954C-958EFB98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9"/>
                </a:solidFill>
              </a:defRPr>
            </a:pPr>
            <a:r>
              <a:rPr sz="900" b="0">
                <a:solidFill>
                  <a:srgbClr val="A8B7C9"/>
                </a:solidFill>
              </a:rPr>
              <a:t>CLOSING / 产品愿景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26EAC-E9B7-4D1D-AC35-0BD5999B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35D73-3FAF-43FF-8BB0-E121487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6FAFF"/>
                </a:solidFill>
              </a:defRPr>
            </a:pPr>
            <a:r>
              <a:rPr sz="4350" b="1">
                <a:solidFill>
                  <a:srgbClr val="F6FAFF"/>
                </a:solidFill>
              </a:rPr>
              <a:t>让每个人，</a:t>
            </a:r>
          </a:p>
          <a:p xmlns:a="http://schemas.openxmlformats.org/drawingml/2006/main">
            <a:pPr algn="l">
              <a:defRPr sz="4350" b="1">
                <a:solidFill>
                  <a:srgbClr val="F6FAFF"/>
                </a:solidFill>
              </a:defRPr>
            </a:pPr>
            <a:r>
              <a:rPr sz="4350" b="1">
                <a:solidFill>
                  <a:srgbClr val="F6FAFF"/>
                </a:solidFill>
              </a:rPr>
              <a:t>都拥有一支 AI 研发团队。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3D97A-B92F-43FA-A295-5CD5C97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8D8FF"/>
                </a:solidFill>
              </a:defRPr>
            </a:pPr>
            <a:r>
              <a:rPr sz="2550" b="1">
                <a:solidFill>
                  <a:srgbClr val="48D8FF"/>
                </a:solidFill>
              </a:rPr>
              <a:t>用户给目标，系统给结果。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98938-25BC-45F6-BFF5-F4787564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7C9"/>
                </a:solidFill>
              </a:defRPr>
            </a:pPr>
            <a:r>
              <a:rPr sz="1725" b="0">
                <a:solidFill>
                  <a:srgbClr val="A8B7C9"/>
                </a:solidFill>
              </a:rPr>
              <a:t>更快开始，更少等待，更清晰地知道</a:t>
            </a:r>
          </a:p>
          <a:p xmlns:a="http://schemas.openxmlformats.org/drawingml/2006/main">
            <a:pPr algn="l">
              <a:defRPr sz="1725" b="0">
                <a:solidFill>
                  <a:srgbClr val="A8B7C9"/>
                </a:solidFill>
              </a:defRPr>
            </a:pPr>
            <a:r>
              <a:rPr sz="1725" b="0">
                <a:solidFill>
                  <a:srgbClr val="A8B7C9"/>
                </a:solidFill>
              </a:rPr>
              <a:t>系统做了什么、为什么、下一步是什么。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C1E67-9C1C-4C84-8901-1B6A0B81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2857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1C31"/>
          </a:solidFill>
          <a:ln xmlns:a="http://schemas.openxmlformats.org/drawingml/2006/main" w="9525">
            <a:solidFill>
              <a:srgbClr val="26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D0F55-1906-4BE8-8BCC-34FBA525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8FF"/>
                </a:solidFill>
              </a:defRPr>
            </a:pPr>
            <a:r>
              <a:rPr sz="1200" b="1">
                <a:solidFill>
                  <a:srgbClr val="48D8FF"/>
                </a:solidFill>
              </a:rPr>
              <a:t>ONE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09239-3ADB-4504-B472-044869D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8D8FF"/>
                </a:solidFill>
              </a:defRPr>
            </a:pPr>
            <a:r>
              <a:rPr sz="3600" b="1">
                <a:solidFill>
                  <a:srgbClr val="48D8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1613E-02A4-4429-B5E2-6D7D8B5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</a:defRPr>
            </a:pPr>
            <a:r>
              <a:rPr sz="1800" b="1">
                <a:solidFill>
                  <a:srgbClr val="F6FAFF"/>
                </a:solidFill>
              </a:rPr>
              <a:t>ONE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754D3-8F7C-44E6-8CAD-0C337DDB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48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7C9"/>
                </a:solidFill>
              </a:defRPr>
            </a:pPr>
            <a:r>
              <a:rPr sz="1125" b="0">
                <a:solidFill>
                  <a:srgbClr val="A8B7C9"/>
                </a:solidFill>
              </a:rPr>
              <a:t>自动完成 · 可验证 · 可恢复</a:t>
            </a:r>
          </a:p>
        </p:txBody>
      </p:sp>
    </p:spTree>
    <p:extLst>
      <p:ext uri="{BB962C8B-B14F-4D97-AF65-F5344CB8AC3E}">
        <p14:creationId xmlns:p14="http://schemas.microsoft.com/office/powerpoint/2010/main" val="531563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2026-08-19T16:09:25.3030000Z</dcterms:created>
  <dcterms:modified xsi:type="dcterms:W3CDTF">2026-08-19T16:09:25.3030000Z</dcterms:modified>
</coreProperties>
</file>